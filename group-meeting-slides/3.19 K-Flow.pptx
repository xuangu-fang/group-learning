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28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8C8D2-B5D5-5EB3-9B89-F720F6719D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Flow Along the K-Amplitude for Generative Modeling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72549E-42CC-90D2-F35E-1E6BAB31C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Weitao Du</a:t>
            </a:r>
            <a:r>
              <a:rPr lang="en-US" altLang="zh-CN" baseline="30000" dirty="0"/>
              <a:t>1</a:t>
            </a:r>
            <a:r>
              <a:rPr lang="en-US" altLang="zh-CN" dirty="0"/>
              <a:t>  </a:t>
            </a:r>
            <a:r>
              <a:rPr lang="en-US" altLang="zh-CN" dirty="0" err="1"/>
              <a:t>Jiasheng</a:t>
            </a:r>
            <a:r>
              <a:rPr lang="en-US" altLang="zh-CN" dirty="0"/>
              <a:t> Tang</a:t>
            </a:r>
            <a:r>
              <a:rPr lang="en-US" altLang="zh-CN" baseline="30000" dirty="0"/>
              <a:t>1</a:t>
            </a:r>
            <a:r>
              <a:rPr lang="en-US" altLang="zh-CN" dirty="0"/>
              <a:t>  </a:t>
            </a:r>
            <a:r>
              <a:rPr lang="en-US" altLang="zh-CN" dirty="0" err="1"/>
              <a:t>Shuning</a:t>
            </a:r>
            <a:r>
              <a:rPr lang="en-US" altLang="zh-CN" dirty="0"/>
              <a:t> Chang</a:t>
            </a:r>
            <a:r>
              <a:rPr lang="en-US" altLang="zh-CN" baseline="30000" dirty="0"/>
              <a:t>1</a:t>
            </a:r>
            <a:r>
              <a:rPr lang="en-US" altLang="zh-CN" dirty="0"/>
              <a:t>  Yu Rong</a:t>
            </a:r>
            <a:r>
              <a:rPr lang="en-US" altLang="zh-CN" baseline="30000" dirty="0"/>
              <a:t>1</a:t>
            </a:r>
            <a:r>
              <a:rPr lang="en-US" altLang="zh-CN" dirty="0"/>
              <a:t>  Fan Wang</a:t>
            </a:r>
            <a:r>
              <a:rPr lang="en-US" altLang="zh-CN" baseline="30000" dirty="0"/>
              <a:t>1</a:t>
            </a:r>
            <a:r>
              <a:rPr lang="en-US" altLang="zh-CN" dirty="0"/>
              <a:t>  </a:t>
            </a:r>
            <a:r>
              <a:rPr lang="en-US" altLang="zh-CN" dirty="0" err="1"/>
              <a:t>Shengchao</a:t>
            </a:r>
            <a:r>
              <a:rPr lang="en-US" altLang="zh-CN" dirty="0"/>
              <a:t> Liu</a:t>
            </a:r>
            <a:r>
              <a:rPr lang="en-US" altLang="zh-CN" baseline="30000" dirty="0"/>
              <a:t>2</a:t>
            </a:r>
          </a:p>
          <a:p>
            <a:r>
              <a:rPr lang="en-US" altLang="zh-CN" dirty="0"/>
              <a:t>ALIBABA DAMO ACADEMY</a:t>
            </a:r>
            <a:r>
              <a:rPr lang="en-US" altLang="zh-CN" baseline="30000" dirty="0"/>
              <a:t>1</a:t>
            </a:r>
          </a:p>
          <a:p>
            <a:r>
              <a:rPr lang="en-US" altLang="zh-CN" dirty="0"/>
              <a:t>UNIVERSITY OF CALIFORNIA, BERKELEY</a:t>
            </a:r>
            <a:r>
              <a:rPr lang="en-US" altLang="zh-CN" baseline="30000" dirty="0"/>
              <a:t>2</a:t>
            </a:r>
            <a:endParaRPr lang="zh-CN" altLang="en-US" baseline="30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80F591-4D66-DA32-D600-0FE31E3C8A25}"/>
              </a:ext>
            </a:extLst>
          </p:cNvPr>
          <p:cNvSpPr txBox="1"/>
          <p:nvPr/>
        </p:nvSpPr>
        <p:spPr>
          <a:xfrm>
            <a:off x="5424181" y="5626358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ICLR2025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3076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2B9288C-9E8B-B64F-0C6C-E323A71CB72A}"/>
              </a:ext>
            </a:extLst>
          </p:cNvPr>
          <p:cNvSpPr/>
          <p:nvPr/>
        </p:nvSpPr>
        <p:spPr>
          <a:xfrm>
            <a:off x="696614" y="4991878"/>
            <a:ext cx="6189378" cy="100770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FA2F62B-40CD-8C13-63A5-8224EA93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5BA812-497B-5810-72AC-0A5C03A20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514" y="1853880"/>
            <a:ext cx="3394607" cy="33946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1511220-EAE6-EB64-62A7-D4E4D661B560}"/>
              </a:ext>
            </a:extLst>
          </p:cNvPr>
          <p:cNvSpPr txBox="1"/>
          <p:nvPr/>
        </p:nvSpPr>
        <p:spPr>
          <a:xfrm>
            <a:off x="696614" y="5102780"/>
            <a:ext cx="60324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现有生成方法不能分开控制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粗粒度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细粒度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未结合数据的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尺度规律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09EF4C3-C14C-40D2-6817-45FC1CA5AD6C}"/>
              </a:ext>
            </a:extLst>
          </p:cNvPr>
          <p:cNvCxnSpPr>
            <a:cxnSpLocks/>
          </p:cNvCxnSpPr>
          <p:nvPr/>
        </p:nvCxnSpPr>
        <p:spPr>
          <a:xfrm flipH="1" flipV="1">
            <a:off x="4721290" y="2155371"/>
            <a:ext cx="3181739" cy="1772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667A2CC-B454-3FF9-E8B6-CA6390A49077}"/>
              </a:ext>
            </a:extLst>
          </p:cNvPr>
          <p:cNvSpPr txBox="1"/>
          <p:nvPr/>
        </p:nvSpPr>
        <p:spPr>
          <a:xfrm>
            <a:off x="1427584" y="196332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背景、轮廓（粗粒度，大尺度）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585609D-14AE-7006-63F4-5BE641C706B4}"/>
              </a:ext>
            </a:extLst>
          </p:cNvPr>
          <p:cNvCxnSpPr>
            <a:cxnSpLocks/>
          </p:cNvCxnSpPr>
          <p:nvPr/>
        </p:nvCxnSpPr>
        <p:spPr>
          <a:xfrm flipH="1">
            <a:off x="4721290" y="2873829"/>
            <a:ext cx="4366726" cy="1452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117A881-6B55-3EB2-0727-A013AF8F9B5F}"/>
              </a:ext>
            </a:extLst>
          </p:cNvPr>
          <p:cNvSpPr txBox="1"/>
          <p:nvPr/>
        </p:nvSpPr>
        <p:spPr>
          <a:xfrm>
            <a:off x="1427584" y="2797336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五官、纹理（细粒度，小尺度）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2AD048-65B4-24B2-9F44-7BBDECFB860D}"/>
              </a:ext>
            </a:extLst>
          </p:cNvPr>
          <p:cNvSpPr txBox="1"/>
          <p:nvPr/>
        </p:nvSpPr>
        <p:spPr>
          <a:xfrm>
            <a:off x="3603010" y="3945599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想修改背景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五官糊了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想修改五官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背景变了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397003-76CE-4F79-1534-8F424131936C}"/>
              </a:ext>
            </a:extLst>
          </p:cNvPr>
          <p:cNvSpPr txBox="1"/>
          <p:nvPr/>
        </p:nvSpPr>
        <p:spPr>
          <a:xfrm>
            <a:off x="381640" y="3560287"/>
            <a:ext cx="4579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现有的图像生成方法（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VAE GAN FM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等）：</a:t>
            </a:r>
          </a:p>
        </p:txBody>
      </p:sp>
    </p:spTree>
    <p:extLst>
      <p:ext uri="{BB962C8B-B14F-4D97-AF65-F5344CB8AC3E}">
        <p14:creationId xmlns:p14="http://schemas.microsoft.com/office/powerpoint/2010/main" val="293259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D14FED5-2CFA-1334-1EFD-B6814194A748}"/>
              </a:ext>
            </a:extLst>
          </p:cNvPr>
          <p:cNvSpPr/>
          <p:nvPr/>
        </p:nvSpPr>
        <p:spPr>
          <a:xfrm>
            <a:off x="1702504" y="3883899"/>
            <a:ext cx="8618450" cy="6640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2B4928C-DE5A-EA97-3234-F97C9AF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如何度量数据的尺度？</a:t>
            </a:r>
            <a:r>
              <a:rPr lang="en-US" altLang="zh-CN" sz="3600" dirty="0"/>
              <a:t>——</a:t>
            </a:r>
            <a:r>
              <a:rPr lang="zh-CN" altLang="en-US" sz="3600" dirty="0"/>
              <a:t>尺度参数</a:t>
            </a:r>
            <a:r>
              <a:rPr lang="en-US" altLang="zh-CN" sz="3600" dirty="0"/>
              <a:t>k</a:t>
            </a:r>
            <a:r>
              <a:rPr lang="zh-CN" altLang="en-US" sz="3600" dirty="0"/>
              <a:t>与</a:t>
            </a:r>
            <a:r>
              <a:rPr lang="en-US" altLang="zh-CN" sz="3600" dirty="0"/>
              <a:t>K-</a:t>
            </a:r>
            <a:r>
              <a:rPr lang="zh-CN" altLang="en-US" sz="3600" dirty="0"/>
              <a:t>幅度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034D609-A7CE-1B1C-C1E4-110507ED2EF2}"/>
                  </a:ext>
                </a:extLst>
              </p:cNvPr>
              <p:cNvSpPr txBox="1"/>
              <p:nvPr/>
            </p:nvSpPr>
            <p:spPr>
              <a:xfrm>
                <a:off x="1032225" y="1403376"/>
                <a:ext cx="5616094" cy="511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我们定义信号（数据）为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，空间的基向量为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034D609-A7CE-1B1C-C1E4-110507ED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25" y="1403376"/>
                <a:ext cx="5616094" cy="511807"/>
              </a:xfrm>
              <a:prstGeom prst="rect">
                <a:avLst/>
              </a:prstGeom>
              <a:blipFill>
                <a:blip r:embed="rId2"/>
                <a:stretch>
                  <a:fillRect l="-868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90EA6D3-8D0F-D93A-C023-E9687063A226}"/>
                  </a:ext>
                </a:extLst>
              </p:cNvPr>
              <p:cNvSpPr txBox="1"/>
              <p:nvPr/>
            </p:nvSpPr>
            <p:spPr>
              <a:xfrm>
                <a:off x="1032225" y="2456639"/>
                <a:ext cx="7511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即</m:t>
                    </m:r>
                    <m:r>
                      <m:rPr>
                        <m:nor/>
                      </m:rPr>
                      <a: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m:t>尺度参数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用来表达数据的尺度，</a:t>
                </a: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小（粗粒度），</a:t>
                </a: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大（细粒度）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90EA6D3-8D0F-D93A-C023-E9687063A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25" y="2456639"/>
                <a:ext cx="7511352" cy="369332"/>
              </a:xfrm>
              <a:prstGeom prst="rect">
                <a:avLst/>
              </a:prstGeom>
              <a:blipFill>
                <a:blip r:embed="rId3"/>
                <a:stretch>
                  <a:fillRect t="-14754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D7668F-C149-112E-41D4-7C019EA31E37}"/>
                  </a:ext>
                </a:extLst>
              </p:cNvPr>
              <p:cNvSpPr txBox="1"/>
              <p:nvPr/>
            </p:nvSpPr>
            <p:spPr>
              <a:xfrm>
                <a:off x="1032225" y="1959108"/>
                <a:ext cx="8849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可以对信号进行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某种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分解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，也就是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将原始信号分解为了尺度不同的信号之和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D7668F-C149-112E-41D4-7C019EA31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25" y="1959108"/>
                <a:ext cx="8849282" cy="369332"/>
              </a:xfrm>
              <a:prstGeom prst="rect">
                <a:avLst/>
              </a:prstGeom>
              <a:blipFill>
                <a:blip r:embed="rId4"/>
                <a:stretch>
                  <a:fillRect l="-551" t="-118033" b="-185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03F0EA7-8C0D-FC9F-C614-93CF16ECB89B}"/>
                  </a:ext>
                </a:extLst>
              </p:cNvPr>
              <p:cNvSpPr txBox="1"/>
              <p:nvPr/>
            </p:nvSpPr>
            <p:spPr>
              <a:xfrm>
                <a:off x="2213948" y="3168069"/>
                <a:ext cx="25029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𝜙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的范数就是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K-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幅度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03F0EA7-8C0D-FC9F-C614-93CF16ECB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948" y="3168069"/>
                <a:ext cx="2502935" cy="369332"/>
              </a:xfrm>
              <a:prstGeom prst="rect">
                <a:avLst/>
              </a:prstGeom>
              <a:blipFill>
                <a:blip r:embed="rId5"/>
                <a:stretch>
                  <a:fillRect l="-487" t="-13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B51C95F-13B0-A4A0-F56C-C5EB3A0952A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716883" y="3352735"/>
            <a:ext cx="15395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998081E-618E-BAD7-B1C7-020D93633B61}"/>
                  </a:ext>
                </a:extLst>
              </p:cNvPr>
              <p:cNvSpPr txBox="1"/>
              <p:nvPr/>
            </p:nvSpPr>
            <p:spPr>
              <a:xfrm>
                <a:off x="6256433" y="3150583"/>
                <a:ext cx="4270385" cy="380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，物理中能量与幅度平方成正比</a:t>
                </a: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998081E-618E-BAD7-B1C7-020D93633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33" y="3150583"/>
                <a:ext cx="4270385" cy="380297"/>
              </a:xfrm>
              <a:prstGeom prst="rect">
                <a:avLst/>
              </a:prstGeom>
              <a:blipFill>
                <a:blip r:embed="rId6"/>
                <a:stretch>
                  <a:fillRect t="-11290" b="-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AC9AB2A9-8409-E74E-A953-8CF03EF6D92D}"/>
              </a:ext>
            </a:extLst>
          </p:cNvPr>
          <p:cNvSpPr txBox="1"/>
          <p:nvPr/>
        </p:nvSpPr>
        <p:spPr>
          <a:xfrm>
            <a:off x="1826321" y="3957864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幅度的大小反映了能量的大小，也就是该尺度信息的重要性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A32B8CA-8622-BFC9-B0E0-027C7DA938D9}"/>
              </a:ext>
            </a:extLst>
          </p:cNvPr>
          <p:cNvCxnSpPr>
            <a:cxnSpLocks/>
          </p:cNvCxnSpPr>
          <p:nvPr/>
        </p:nvCxnSpPr>
        <p:spPr>
          <a:xfrm>
            <a:off x="5312197" y="3396661"/>
            <a:ext cx="0" cy="437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2C371127-3DDF-2134-CD35-91DD6D2C2C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350" y="4669101"/>
            <a:ext cx="4725955" cy="18237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A467A96-9734-4DB0-C658-A28739AB8A68}"/>
              </a:ext>
            </a:extLst>
          </p:cNvPr>
          <p:cNvSpPr txBox="1"/>
          <p:nvPr/>
        </p:nvSpPr>
        <p:spPr>
          <a:xfrm>
            <a:off x="1513503" y="126700"/>
            <a:ext cx="9164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Along the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K-Amplitude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Generative Modeling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4C014E-56CA-7ADA-C26C-4F0560FE7375}"/>
              </a:ext>
            </a:extLst>
          </p:cNvPr>
          <p:cNvSpPr txBox="1"/>
          <p:nvPr/>
        </p:nvSpPr>
        <p:spPr>
          <a:xfrm>
            <a:off x="478227" y="23442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回顾标题</a:t>
            </a:r>
          </a:p>
        </p:txBody>
      </p:sp>
    </p:spTree>
    <p:extLst>
      <p:ext uri="{BB962C8B-B14F-4D97-AF65-F5344CB8AC3E}">
        <p14:creationId xmlns:p14="http://schemas.microsoft.com/office/powerpoint/2010/main" val="26234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B20FE-2475-DFB6-60EA-320D1E6C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Flow Matching(FM)</a:t>
            </a:r>
            <a:r>
              <a:rPr lang="zh-CN" altLang="en-US" dirty="0"/>
              <a:t>流匹配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F8B7A69-DBDE-EBC3-971D-933E1B23EE1A}"/>
                  </a:ext>
                </a:extLst>
              </p:cNvPr>
              <p:cNvSpPr txBox="1"/>
              <p:nvPr/>
            </p:nvSpPr>
            <p:spPr>
              <a:xfrm>
                <a:off x="737118" y="1597382"/>
                <a:ext cx="6016968" cy="1172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核心是求解常微分方程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(ODE)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即流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(Flow)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，表示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时刻数据的状态，</a:t>
                </a:r>
                <a:r>
                  <a: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速度场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F8B7A69-DBDE-EBC3-971D-933E1B23E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18" y="1597382"/>
                <a:ext cx="6016968" cy="1172244"/>
              </a:xfrm>
              <a:prstGeom prst="rect">
                <a:avLst/>
              </a:prstGeom>
              <a:blipFill>
                <a:blip r:embed="rId2"/>
                <a:stretch>
                  <a:fillRect l="-912" t="-3646" b="-7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06AFE850-3A86-1E58-2B21-3F3441BA3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80" y="3475820"/>
            <a:ext cx="9336242" cy="3017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0BB46D3-229D-4114-3257-906E83FA0AD1}"/>
                  </a:ext>
                </a:extLst>
              </p:cNvPr>
              <p:cNvSpPr txBox="1"/>
              <p:nvPr/>
            </p:nvSpPr>
            <p:spPr>
              <a:xfrm>
                <a:off x="737118" y="2938057"/>
                <a:ext cx="7249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（初始的简单分布）通过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ODE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演化到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（真实数据分布）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0BB46D3-229D-4114-3257-906E83FA0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18" y="2938057"/>
                <a:ext cx="7249613" cy="369332"/>
              </a:xfrm>
              <a:prstGeom prst="rect">
                <a:avLst/>
              </a:prstGeom>
              <a:blipFill>
                <a:blip r:embed="rId4"/>
                <a:stretch>
                  <a:fillRect l="-757" t="-1311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7217AD7-21B4-3819-4D87-D7BC793DF7BC}"/>
              </a:ext>
            </a:extLst>
          </p:cNvPr>
          <p:cNvCxnSpPr>
            <a:cxnSpLocks/>
          </p:cNvCxnSpPr>
          <p:nvPr/>
        </p:nvCxnSpPr>
        <p:spPr>
          <a:xfrm flipH="1">
            <a:off x="5523722" y="2099388"/>
            <a:ext cx="1455576" cy="298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C94224-933F-6409-40BF-FADC75F90CDC}"/>
                  </a:ext>
                </a:extLst>
              </p:cNvPr>
              <p:cNvSpPr txBox="1"/>
              <p:nvPr/>
            </p:nvSpPr>
            <p:spPr>
              <a:xfrm>
                <a:off x="6979298" y="1888676"/>
                <a:ext cx="42058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学习的目标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演化的依据是时间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，未包含尺度信息！</a:t>
                </a: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C94224-933F-6409-40BF-FADC75F90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298" y="1888676"/>
                <a:ext cx="4205831" cy="646331"/>
              </a:xfrm>
              <a:prstGeom prst="rect">
                <a:avLst/>
              </a:prstGeom>
              <a:blipFill>
                <a:blip r:embed="rId5"/>
                <a:stretch>
                  <a:fillRect l="-1304" t="-5660" r="-580" b="-1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686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43E6781A-9164-562A-5753-AAC1409549C7}"/>
              </a:ext>
            </a:extLst>
          </p:cNvPr>
          <p:cNvSpPr/>
          <p:nvPr/>
        </p:nvSpPr>
        <p:spPr>
          <a:xfrm>
            <a:off x="8210145" y="1426105"/>
            <a:ext cx="1735494" cy="5291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FD01AE1-45B0-B78C-0238-2A36BA50CA1B}"/>
              </a:ext>
            </a:extLst>
          </p:cNvPr>
          <p:cNvSpPr/>
          <p:nvPr/>
        </p:nvSpPr>
        <p:spPr>
          <a:xfrm>
            <a:off x="2183363" y="1426105"/>
            <a:ext cx="1735494" cy="5291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02FB35-39F7-8E66-B199-F864F61C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K-Flow</a:t>
            </a:r>
            <a:r>
              <a:rPr lang="zh-CN" altLang="en-US" dirty="0"/>
              <a:t>核心创新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E92E72-45DF-5D4A-A8FB-8F8537582968}"/>
              </a:ext>
            </a:extLst>
          </p:cNvPr>
          <p:cNvSpPr txBox="1"/>
          <p:nvPr/>
        </p:nvSpPr>
        <p:spPr>
          <a:xfrm>
            <a:off x="2246361" y="1500750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Matching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459BF3F-9B2E-5DFA-4BDC-A094B68AABDE}"/>
                  </a:ext>
                </a:extLst>
              </p:cNvPr>
              <p:cNvSpPr txBox="1"/>
              <p:nvPr/>
            </p:nvSpPr>
            <p:spPr>
              <a:xfrm>
                <a:off x="0" y="2008528"/>
                <a:ext cx="6097554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∈[0,1]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459BF3F-9B2E-5DFA-4BDC-A094B68A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08528"/>
                <a:ext cx="6097554" cy="6182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2763DAD4-7618-93F1-0DDE-BEEB6F9C25D3}"/>
              </a:ext>
            </a:extLst>
          </p:cNvPr>
          <p:cNvSpPr txBox="1"/>
          <p:nvPr/>
        </p:nvSpPr>
        <p:spPr>
          <a:xfrm>
            <a:off x="8693370" y="1500750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K-Flow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A4C1369-9E0F-EE92-EE28-7F788EB6BC41}"/>
                  </a:ext>
                </a:extLst>
              </p:cNvPr>
              <p:cNvSpPr txBox="1"/>
              <p:nvPr/>
            </p:nvSpPr>
            <p:spPr>
              <a:xfrm>
                <a:off x="6094446" y="2001575"/>
                <a:ext cx="6097554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𝑑𝑘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∈[0,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A4C1369-9E0F-EE92-EE28-7F788EB6B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46" y="2001575"/>
                <a:ext cx="6097554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A2203A5-B6ED-C5A4-0382-F3D8FD69502F}"/>
              </a:ext>
            </a:extLst>
          </p:cNvPr>
          <p:cNvCxnSpPr>
            <a:cxnSpLocks/>
          </p:cNvCxnSpPr>
          <p:nvPr/>
        </p:nvCxnSpPr>
        <p:spPr>
          <a:xfrm>
            <a:off x="4729721" y="2343752"/>
            <a:ext cx="2360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2273D53-B526-5D6A-248D-6AFB5F46B3AD}"/>
              </a:ext>
            </a:extLst>
          </p:cNvPr>
          <p:cNvSpPr txBox="1"/>
          <p:nvPr/>
        </p:nvSpPr>
        <p:spPr>
          <a:xfrm>
            <a:off x="4860989" y="197442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尺度参数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替换时间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0B9964-26C2-3C1A-CE86-447A9BBE4551}"/>
              </a:ext>
            </a:extLst>
          </p:cNvPr>
          <p:cNvSpPr txBox="1"/>
          <p:nvPr/>
        </p:nvSpPr>
        <p:spPr>
          <a:xfrm>
            <a:off x="2377807" y="261999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噪声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图像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7A464C-A0F1-26C7-6DAD-F414BE136162}"/>
              </a:ext>
            </a:extLst>
          </p:cNvPr>
          <p:cNvSpPr txBox="1"/>
          <p:nvPr/>
        </p:nvSpPr>
        <p:spPr>
          <a:xfrm>
            <a:off x="7090366" y="262694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噪声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低尺度特征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高尺度特征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图像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77A895-A270-5779-0B95-306F456522BB}"/>
              </a:ext>
            </a:extLst>
          </p:cNvPr>
          <p:cNvSpPr txBox="1"/>
          <p:nvPr/>
        </p:nvSpPr>
        <p:spPr>
          <a:xfrm>
            <a:off x="1662066" y="3073019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技术实现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embedding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CA0E21-5A77-6F00-7602-030261AF6DB1}"/>
              </a:ext>
            </a:extLst>
          </p:cNvPr>
          <p:cNvSpPr txBox="1"/>
          <p:nvPr/>
        </p:nvSpPr>
        <p:spPr>
          <a:xfrm>
            <a:off x="7635438" y="3073019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技术实现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embedding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87A5ECB-9535-0717-D3FA-47F355CCA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78" y="3404779"/>
            <a:ext cx="8340735" cy="345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1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2AA4F0F-F33C-5DC6-5767-1D7340BC25D8}"/>
              </a:ext>
            </a:extLst>
          </p:cNvPr>
          <p:cNvSpPr/>
          <p:nvPr/>
        </p:nvSpPr>
        <p:spPr>
          <a:xfrm>
            <a:off x="7935551" y="4488723"/>
            <a:ext cx="3877985" cy="150409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DBDC360-82BB-9349-2910-B0A87B7AEC92}"/>
              </a:ext>
            </a:extLst>
          </p:cNvPr>
          <p:cNvSpPr/>
          <p:nvPr/>
        </p:nvSpPr>
        <p:spPr>
          <a:xfrm>
            <a:off x="520960" y="5080492"/>
            <a:ext cx="7279433" cy="16340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CC1044-C839-0248-6159-84199693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K-Flow pipeline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80357F-0877-7BF1-11C8-68FFE8F05A7E}"/>
              </a:ext>
            </a:extLst>
          </p:cNvPr>
          <p:cNvSpPr txBox="1"/>
          <p:nvPr/>
        </p:nvSpPr>
        <p:spPr>
          <a:xfrm>
            <a:off x="597159" y="169253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:K-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幅度分解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可逆变换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CDEC373-586A-C3B7-2D7B-5D49332EF3C4}"/>
                  </a:ext>
                </a:extLst>
              </p:cNvPr>
              <p:cNvSpPr txBox="1"/>
              <p:nvPr/>
            </p:nvSpPr>
            <p:spPr>
              <a:xfrm>
                <a:off x="597159" y="2179361"/>
                <a:ext cx="8107412" cy="443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傅里叶变换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nary>
                              <m:nary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𝑑𝑥𝑑𝑦𝑑𝑧</m:t>
                        </m:r>
                      </m:e>
                    </m:nary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CDEC373-586A-C3B7-2D7B-5D49332EF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59" y="2179361"/>
                <a:ext cx="8107412" cy="443326"/>
              </a:xfrm>
              <a:prstGeom prst="rect">
                <a:avLst/>
              </a:prstGeom>
              <a:blipFill>
                <a:blip r:embed="rId2"/>
                <a:stretch>
                  <a:fillRect l="-677" t="-116667" b="-18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09C22EE-30D2-3859-8DDD-614FDDE1A5AC}"/>
                  </a:ext>
                </a:extLst>
              </p:cNvPr>
              <p:cNvSpPr txBox="1"/>
              <p:nvPr/>
            </p:nvSpPr>
            <p:spPr>
              <a:xfrm>
                <a:off x="597159" y="2807353"/>
                <a:ext cx="4281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小波变换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𝜙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=∑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+∑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09C22EE-30D2-3859-8DDD-614FDDE1A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59" y="2807353"/>
                <a:ext cx="4281685" cy="369332"/>
              </a:xfrm>
              <a:prstGeom prst="rect">
                <a:avLst/>
              </a:prstGeom>
              <a:blipFill>
                <a:blip r:embed="rId3"/>
                <a:stretch>
                  <a:fillRect l="-1282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4D737B5-580F-16A0-FFE8-4821060DC4D1}"/>
                  </a:ext>
                </a:extLst>
              </p:cNvPr>
              <p:cNvSpPr txBox="1"/>
              <p:nvPr/>
            </p:nvSpPr>
            <p:spPr>
              <a:xfrm>
                <a:off x="651097" y="3411675"/>
                <a:ext cx="29023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PCA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主成分分析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𝜙</m:t>
                    </m:r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4D737B5-580F-16A0-FFE8-4821060DC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97" y="3411675"/>
                <a:ext cx="2902333" cy="369332"/>
              </a:xfrm>
              <a:prstGeom prst="rect">
                <a:avLst/>
              </a:prstGeom>
              <a:blipFill>
                <a:blip r:embed="rId4"/>
                <a:stretch>
                  <a:fillRect l="-1891" t="-13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98D44A9-DD79-3D7B-4FD2-35D7079CF3AC}"/>
                  </a:ext>
                </a:extLst>
              </p:cNvPr>
              <p:cNvSpPr txBox="1"/>
              <p:nvPr/>
            </p:nvSpPr>
            <p:spPr>
              <a:xfrm>
                <a:off x="4933893" y="843240"/>
                <a:ext cx="4953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随机采样尺度参数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采样训练数据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采样噪声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ϵ</m:t>
                    </m:r>
                  </m:oMath>
                </a14:m>
                <a:endParaRPr lang="en-US" altLang="zh-CN" b="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98D44A9-DD79-3D7B-4FD2-35D7079CF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893" y="843240"/>
                <a:ext cx="4953728" cy="369332"/>
              </a:xfrm>
              <a:prstGeom prst="rect">
                <a:avLst/>
              </a:prstGeom>
              <a:blipFill>
                <a:blip r:embed="rId5"/>
                <a:stretch>
                  <a:fillRect l="-984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150D80B-8F8D-73F8-8228-E7D84C86336B}"/>
                  </a:ext>
                </a:extLst>
              </p:cNvPr>
              <p:cNvSpPr txBox="1"/>
              <p:nvPr/>
            </p:nvSpPr>
            <p:spPr>
              <a:xfrm>
                <a:off x="554403" y="3965673"/>
                <a:ext cx="6592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Step2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计算当前尺度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下的流位置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以傅里叶变换为例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150D80B-8F8D-73F8-8228-E7D84C863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3" y="3965673"/>
                <a:ext cx="6592767" cy="369332"/>
              </a:xfrm>
              <a:prstGeom prst="rect">
                <a:avLst/>
              </a:prstGeom>
              <a:blipFill>
                <a:blip r:embed="rId6"/>
                <a:stretch>
                  <a:fillRect l="-833" t="-13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E2B8F6D-565B-AEA2-98EE-DBB1C2174924}"/>
                  </a:ext>
                </a:extLst>
              </p:cNvPr>
              <p:cNvSpPr txBox="1"/>
              <p:nvPr/>
            </p:nvSpPr>
            <p:spPr>
              <a:xfrm>
                <a:off x="-119099" y="5080492"/>
                <a:ext cx="8670471" cy="1634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𝕝</m:t>
                              </m:r>
                            </m:e>
                            <m:sub>
                              <m:rad>
                                <m:radPr>
                                  <m:degHide m:val="on"/>
                                  <m:ctrlPr>
                                    <a:rPr lang="zh-CN" alt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𝕝</m:t>
                                  </m:r>
                                </m:e>
                                <m:sub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ra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≥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𝕝</m:t>
                              </m:r>
                            </m:e>
                            <m:sub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ℱ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E2B8F6D-565B-AEA2-98EE-DBB1C2174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9099" y="5080492"/>
                <a:ext cx="8670471" cy="1634037"/>
              </a:xfrm>
              <a:prstGeom prst="rect">
                <a:avLst/>
              </a:prstGeom>
              <a:blipFill>
                <a:blip r:embed="rId7"/>
                <a:stretch>
                  <a:fillRect t="-67537" r="-2952" b="-123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494F4B0-02F3-3149-2DC4-818BD10C80C1}"/>
                  </a:ext>
                </a:extLst>
              </p:cNvPr>
              <p:cNvSpPr txBox="1"/>
              <p:nvPr/>
            </p:nvSpPr>
            <p:spPr>
              <a:xfrm>
                <a:off x="7935551" y="4489497"/>
                <a:ext cx="401667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低尺度分量直接保留数据信息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;</a:t>
                </a:r>
              </a:p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高尺度分量用噪声填充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;</a:t>
                </a:r>
              </a:p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中间尺度分量通过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bump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实现数据与噪声的线性插值（确保流的连续性）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494F4B0-02F3-3149-2DC4-818BD10C8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551" y="4489497"/>
                <a:ext cx="4016679" cy="1477328"/>
              </a:xfrm>
              <a:prstGeom prst="rect">
                <a:avLst/>
              </a:prstGeom>
              <a:blipFill>
                <a:blip r:embed="rId8"/>
                <a:stretch>
                  <a:fillRect l="-1366" t="-2058" b="-5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85B1061-C54C-ED8F-F92C-DB04A2CC05DF}"/>
                  </a:ext>
                </a:extLst>
              </p:cNvPr>
              <p:cNvSpPr txBox="1"/>
              <p:nvPr/>
            </p:nvSpPr>
            <p:spPr>
              <a:xfrm>
                <a:off x="-25793" y="4447947"/>
                <a:ext cx="7961344" cy="632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𝕝</m:t>
                              </m:r>
                            </m:e>
                            <m:sub>
                              <m:rad>
                                <m:radPr>
                                  <m:degHide m:val="on"/>
                                  <m:ctrlPr>
                                    <a:rPr lang="zh-CN" alt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𝕝</m:t>
                                  </m:r>
                                </m:e>
                                <m:sub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ra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≤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85B1061-C54C-ED8F-F92C-DB04A2CC0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793" y="4447947"/>
                <a:ext cx="7961344" cy="6325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A057DC61-6E95-9CA5-18B9-0FF2A9863A77}"/>
              </a:ext>
            </a:extLst>
          </p:cNvPr>
          <p:cNvSpPr txBox="1"/>
          <p:nvPr/>
        </p:nvSpPr>
        <p:spPr>
          <a:xfrm>
            <a:off x="7125132" y="4006449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使用指示函数和逆变换构造当前的流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6F214D2-C42A-0187-51DD-2776404F7A69}"/>
              </a:ext>
            </a:extLst>
          </p:cNvPr>
          <p:cNvCxnSpPr>
            <a:cxnSpLocks/>
          </p:cNvCxnSpPr>
          <p:nvPr/>
        </p:nvCxnSpPr>
        <p:spPr>
          <a:xfrm flipH="1">
            <a:off x="6083560" y="4341401"/>
            <a:ext cx="1851991" cy="147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C59EC1C0-311E-B414-B513-CF548ECABE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117" y="2854773"/>
            <a:ext cx="1000000" cy="100000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7DF1B584-4202-2C4F-5519-84CF3FA10061}"/>
              </a:ext>
            </a:extLst>
          </p:cNvPr>
          <p:cNvSpPr txBox="1"/>
          <p:nvPr/>
        </p:nvSpPr>
        <p:spPr>
          <a:xfrm>
            <a:off x="10208572" y="2310073"/>
            <a:ext cx="523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low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2B06B3B-3C32-AC63-B643-F56C0CF82EE0}"/>
              </a:ext>
            </a:extLst>
          </p:cNvPr>
          <p:cNvSpPr txBox="1"/>
          <p:nvPr/>
        </p:nvSpPr>
        <p:spPr>
          <a:xfrm>
            <a:off x="10732177" y="227945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mid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B510EAE-70FF-26A6-B6F0-AEBA4D48E672}"/>
              </a:ext>
            </a:extLst>
          </p:cNvPr>
          <p:cNvSpPr txBox="1"/>
          <p:nvPr/>
        </p:nvSpPr>
        <p:spPr>
          <a:xfrm>
            <a:off x="11303415" y="2279453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high</a:t>
            </a:r>
            <a:endParaRPr lang="zh-CN" altLang="en-US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E88FDFA-4F15-E372-D776-DB5D09F5A83B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10470375" y="2679405"/>
            <a:ext cx="133864" cy="225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88CA9BE-C9B3-4889-6811-F73CFF215772}"/>
              </a:ext>
            </a:extLst>
          </p:cNvPr>
          <p:cNvCxnSpPr>
            <a:cxnSpLocks/>
            <a:stCxn id="39" idx="2"/>
            <a:endCxn id="37" idx="0"/>
          </p:cNvCxnSpPr>
          <p:nvPr/>
        </p:nvCxnSpPr>
        <p:spPr>
          <a:xfrm flipH="1">
            <a:off x="11003117" y="2648785"/>
            <a:ext cx="930" cy="205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3220187-0F79-B65F-D1D1-8BAE7B7F0FCC}"/>
              </a:ext>
            </a:extLst>
          </p:cNvPr>
          <p:cNvCxnSpPr>
            <a:cxnSpLocks/>
            <a:stCxn id="40" idx="2"/>
          </p:cNvCxnSpPr>
          <p:nvPr/>
        </p:nvCxnSpPr>
        <p:spPr>
          <a:xfrm flipH="1">
            <a:off x="11417546" y="2648785"/>
            <a:ext cx="180982" cy="205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CFBDA0E-BAD0-3DDF-E74D-0EE03DA7A197}"/>
                  </a:ext>
                </a:extLst>
              </p:cNvPr>
              <p:cNvSpPr txBox="1"/>
              <p:nvPr/>
            </p:nvSpPr>
            <p:spPr>
              <a:xfrm>
                <a:off x="3553430" y="1656308"/>
                <a:ext cx="28943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具体如何分解？</a:t>
                </a: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CFBDA0E-BAD0-3DDF-E74D-0EE03DA7A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430" y="1656308"/>
                <a:ext cx="2894324" cy="369332"/>
              </a:xfrm>
              <a:prstGeom prst="rect">
                <a:avLst/>
              </a:prstGeom>
              <a:blipFill>
                <a:blip r:embed="rId11"/>
                <a:stretch>
                  <a:fillRect l="-632" t="-120000" b="-19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图片 52">
            <a:extLst>
              <a:ext uri="{FF2B5EF4-FFF2-40B4-BE49-F238E27FC236}">
                <a16:creationId xmlns:a16="http://schemas.microsoft.com/office/drawing/2014/main" id="{003E2BDA-1FB4-346D-4524-9D355C715CB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975" y="2660218"/>
            <a:ext cx="3315474" cy="127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35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44161-2D3C-3364-2D6A-A826291A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595E-C629-1E88-5BCC-55B9AAEE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K-Flow pipeline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35E392-24D1-026C-7AC1-FE2788020140}"/>
              </a:ext>
            </a:extLst>
          </p:cNvPr>
          <p:cNvSpPr txBox="1"/>
          <p:nvPr/>
        </p:nvSpPr>
        <p:spPr>
          <a:xfrm>
            <a:off x="914399" y="170985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向量场的计算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27C35BC-DB2F-D20B-2107-C2341EB32601}"/>
                  </a:ext>
                </a:extLst>
              </p:cNvPr>
              <p:cNvSpPr txBox="1"/>
              <p:nvPr/>
            </p:nvSpPr>
            <p:spPr>
              <a:xfrm>
                <a:off x="4933893" y="843240"/>
                <a:ext cx="4953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随机采样尺度参数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采样训练数据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采样噪声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ϵ</m:t>
                    </m:r>
                  </m:oMath>
                </a14:m>
                <a:endParaRPr lang="en-US" altLang="zh-CN" b="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27C35BC-DB2F-D20B-2107-C2341EB32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893" y="843240"/>
                <a:ext cx="4953728" cy="369332"/>
              </a:xfrm>
              <a:prstGeom prst="rect">
                <a:avLst/>
              </a:prstGeom>
              <a:blipFill>
                <a:blip r:embed="rId2"/>
                <a:stretch>
                  <a:fillRect l="-984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CF5A6547-E068-54EB-45D4-A85AFFFB602D}"/>
              </a:ext>
            </a:extLst>
          </p:cNvPr>
          <p:cNvSpPr txBox="1"/>
          <p:nvPr/>
        </p:nvSpPr>
        <p:spPr>
          <a:xfrm>
            <a:off x="914399" y="3199052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Step4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Loss function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DD55655-FBA7-E4C2-3A47-D37FB94B8A49}"/>
                  </a:ext>
                </a:extLst>
              </p:cNvPr>
              <p:cNvSpPr txBox="1"/>
              <p:nvPr/>
            </p:nvSpPr>
            <p:spPr>
              <a:xfrm>
                <a:off x="813318" y="2364630"/>
                <a:ext cx="7031605" cy="7529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𝕝</m:t>
                              </m:r>
                            </m:e>
                            <m:sub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ℱ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DD55655-FBA7-E4C2-3A47-D37FB94B8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18" y="2364630"/>
                <a:ext cx="7031605" cy="752963"/>
              </a:xfrm>
              <a:prstGeom prst="rect">
                <a:avLst/>
              </a:prstGeom>
              <a:blipFill>
                <a:blip r:embed="rId3"/>
                <a:stretch>
                  <a:fillRect b="-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E1D0D3B-C4AC-0AF0-9563-BA0A71F9593C}"/>
                  </a:ext>
                </a:extLst>
              </p:cNvPr>
              <p:cNvSpPr txBox="1"/>
              <p:nvPr/>
            </p:nvSpPr>
            <p:spPr>
              <a:xfrm>
                <a:off x="7720594" y="2314181"/>
                <a:ext cx="385587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只有当前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的尺度区间有非零导数，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局部向量场</a:t>
                </a:r>
                <a:endPara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仅更新当前局部的尺度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E1D0D3B-C4AC-0AF0-9563-BA0A71F95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594" y="2314181"/>
                <a:ext cx="3855875" cy="923330"/>
              </a:xfrm>
              <a:prstGeom prst="rect">
                <a:avLst/>
              </a:prstGeom>
              <a:blipFill>
                <a:blip r:embed="rId4"/>
                <a:stretch>
                  <a:fillRect l="-316" t="-5298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92A3FAD-D8E8-3FBF-10C1-CB0415BF9737}"/>
                  </a:ext>
                </a:extLst>
              </p:cNvPr>
              <p:cNvSpPr txBox="1"/>
              <p:nvPr/>
            </p:nvSpPr>
            <p:spPr>
              <a:xfrm>
                <a:off x="1532559" y="3709397"/>
                <a:ext cx="4637423" cy="773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𝑓𝑙𝑜𝑤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𝑑𝑘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𝑑𝑘</m:t>
                                          </m:r>
                                        </m:den>
                                      </m:f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92A3FAD-D8E8-3FBF-10C1-CB0415BF9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559" y="3709397"/>
                <a:ext cx="4637423" cy="7730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A3A30B1A-1D8C-FA94-66BD-C0E51ACD50BE}"/>
              </a:ext>
            </a:extLst>
          </p:cNvPr>
          <p:cNvSpPr txBox="1"/>
          <p:nvPr/>
        </p:nvSpPr>
        <p:spPr>
          <a:xfrm>
            <a:off x="914399" y="4488562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模型推理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逆变换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9719AA4-F2A8-6763-8560-A7AE4860EC4A}"/>
                  </a:ext>
                </a:extLst>
              </p:cNvPr>
              <p:cNvSpPr txBox="1"/>
              <p:nvPr/>
            </p:nvSpPr>
            <p:spPr>
              <a:xfrm>
                <a:off x="813318" y="4772292"/>
                <a:ext cx="11350030" cy="768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当前状态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-&gt;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根据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求解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ODE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𝑑𝑘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仅更新当前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范围的信息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)-&gt;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最后逆变换到原来空间</a:t>
                </a: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9719AA4-F2A8-6763-8560-A7AE4860E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18" y="4772292"/>
                <a:ext cx="11350030" cy="768287"/>
              </a:xfrm>
              <a:prstGeom prst="rect">
                <a:avLst/>
              </a:prstGeom>
              <a:blipFill>
                <a:blip r:embed="rId6"/>
                <a:stretch>
                  <a:fillRect l="-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图片 25">
            <a:extLst>
              <a:ext uri="{FF2B5EF4-FFF2-40B4-BE49-F238E27FC236}">
                <a16:creationId xmlns:a16="http://schemas.microsoft.com/office/drawing/2014/main" id="{97F4040D-8D8B-1579-8E62-5C7DB9BBE8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800" y="5247962"/>
            <a:ext cx="10200000" cy="1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69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796C7-4F47-84D5-8991-398D11B4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CDE1B-68D0-5D74-53D5-9BDE1AF9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Properties of K-Flow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8D8DC2-9651-AA7C-9A25-3EF83B6C5C3F}"/>
              </a:ext>
            </a:extLst>
          </p:cNvPr>
          <p:cNvSpPr txBox="1"/>
          <p:nvPr/>
        </p:nvSpPr>
        <p:spPr>
          <a:xfrm>
            <a:off x="989044" y="1690688"/>
            <a:ext cx="612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按数据的能量规律按尺度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拆解信号，自然处理尺度信息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A47AD9-0208-08C8-AE27-8A34AF907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329" y="0"/>
            <a:ext cx="2190476" cy="28095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C2175C9-3397-68DE-B87D-017A782162AB}"/>
                  </a:ext>
                </a:extLst>
              </p:cNvPr>
              <p:cNvSpPr txBox="1"/>
              <p:nvPr/>
            </p:nvSpPr>
            <p:spPr>
              <a:xfrm>
                <a:off x="989044" y="2394727"/>
                <a:ext cx="7051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2.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支持多尺度建模。低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高的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分别建模背景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细节等多尺度信息</a:t>
                </a: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C2175C9-3397-68DE-B87D-017A78216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44" y="2394727"/>
                <a:ext cx="7051930" cy="369332"/>
              </a:xfrm>
              <a:prstGeom prst="rect">
                <a:avLst/>
              </a:prstGeom>
              <a:blipFill>
                <a:blip r:embed="rId3"/>
                <a:stretch>
                  <a:fillRect l="-691" t="-13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4EC2745-680D-62E6-722F-7E4F1D6B97B0}"/>
                  </a:ext>
                </a:extLst>
              </p:cNvPr>
              <p:cNvSpPr txBox="1"/>
              <p:nvPr/>
            </p:nvSpPr>
            <p:spPr>
              <a:xfrm>
                <a:off x="989044" y="3098766"/>
                <a:ext cx="67056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3.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与物理规律统一。能量与幅度平方成正比，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小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大，能量高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低</a:t>
                </a: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4EC2745-680D-62E6-722F-7E4F1D6B9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44" y="3098766"/>
                <a:ext cx="6705682" cy="369332"/>
              </a:xfrm>
              <a:prstGeom prst="rect">
                <a:avLst/>
              </a:prstGeom>
              <a:blipFill>
                <a:blip r:embed="rId4"/>
                <a:stretch>
                  <a:fillRect l="-727" t="-11475" r="-45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F9DA8559-829F-B497-9E20-690A27F482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743" y="2797676"/>
            <a:ext cx="3241207" cy="12508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98EB99E-E858-6B77-91EC-BBCC1AD225A0}"/>
                  </a:ext>
                </a:extLst>
              </p:cNvPr>
              <p:cNvSpPr txBox="1"/>
              <p:nvPr/>
            </p:nvSpPr>
            <p:spPr>
              <a:xfrm>
                <a:off x="989044" y="3802805"/>
                <a:ext cx="59554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4.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尺度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演化的依据（时间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早期先画背景，后期画细节，符合认知上“画画”的规律</a:t>
                </a: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98EB99E-E858-6B77-91EC-BBCC1AD22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44" y="3802805"/>
                <a:ext cx="5955476" cy="646331"/>
              </a:xfrm>
              <a:prstGeom prst="rect">
                <a:avLst/>
              </a:prstGeom>
              <a:blipFill>
                <a:blip r:embed="rId6"/>
                <a:stretch>
                  <a:fillRect l="-819" t="-7547" r="-205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740429B-B090-89A0-99DB-0157BC287C9F}"/>
                  </a:ext>
                </a:extLst>
              </p:cNvPr>
              <p:cNvSpPr txBox="1"/>
              <p:nvPr/>
            </p:nvSpPr>
            <p:spPr>
              <a:xfrm>
                <a:off x="989044" y="4783843"/>
                <a:ext cx="5229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5.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不同尺度间的平滑过渡。特殊设计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bump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740429B-B090-89A0-99DB-0157BC287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44" y="4783843"/>
                <a:ext cx="5229188" cy="369332"/>
              </a:xfrm>
              <a:prstGeom prst="rect">
                <a:avLst/>
              </a:prstGeom>
              <a:blipFill>
                <a:blip r:embed="rId7"/>
                <a:stretch>
                  <a:fillRect l="-932" t="-13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4F9FE258-65CF-6F13-282D-3F9CD3B2A1E7}"/>
              </a:ext>
            </a:extLst>
          </p:cNvPr>
          <p:cNvSpPr txBox="1"/>
          <p:nvPr/>
        </p:nvSpPr>
        <p:spPr>
          <a:xfrm>
            <a:off x="989044" y="5487882"/>
            <a:ext cx="5551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精准控制生成内容。通过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调整不同尺度的生成过程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9B8E438-B393-0D81-062D-F2D3E3193F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743" y="4202167"/>
            <a:ext cx="1295238" cy="257142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518248A-EC82-6913-D9F1-CBF7885F6C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950" y="4202167"/>
            <a:ext cx="1295238" cy="2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80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EADC6-2C40-9199-15F4-9EAB219E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DAABAEC-7E7B-92C0-7978-65A4C3886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33" y="2799184"/>
            <a:ext cx="9845898" cy="37720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32A7746-FDB5-20F5-9E29-29A2D31143F7}"/>
              </a:ext>
            </a:extLst>
          </p:cNvPr>
          <p:cNvSpPr txBox="1"/>
          <p:nvPr/>
        </p:nvSpPr>
        <p:spPr>
          <a:xfrm>
            <a:off x="1054359" y="1932903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无条件生成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条件生成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3EEE8F-40B3-C8B6-5744-B440AB8E4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506" y="318839"/>
            <a:ext cx="4606212" cy="254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57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BCC4-4FF6-4539-4559-E257D2FC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1C6E600-DF05-296A-438A-EA6C14D2AA9F}"/>
              </a:ext>
            </a:extLst>
          </p:cNvPr>
          <p:cNvSpPr/>
          <p:nvPr/>
        </p:nvSpPr>
        <p:spPr>
          <a:xfrm>
            <a:off x="197442" y="3592286"/>
            <a:ext cx="3116424" cy="97971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54BE0E4-D2FC-0230-EDEA-6DA64EF6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AA280E-B83E-9282-BF3F-0037233081A2}"/>
              </a:ext>
            </a:extLst>
          </p:cNvPr>
          <p:cNvSpPr txBox="1"/>
          <p:nvPr/>
        </p:nvSpPr>
        <p:spPr>
          <a:xfrm>
            <a:off x="1054359" y="1520890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控制条件生成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2A8AA9-7CFD-AC3C-4365-CE08FA838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866" y="1407161"/>
            <a:ext cx="8438095" cy="50857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ECE728-C736-DCEB-A4BD-ACF515E117FE}"/>
              </a:ext>
            </a:extLst>
          </p:cNvPr>
          <p:cNvSpPr txBox="1"/>
          <p:nvPr/>
        </p:nvSpPr>
        <p:spPr>
          <a:xfrm>
            <a:off x="197442" y="2337236"/>
            <a:ext cx="300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在生成的最后阶段丢弃掉条件信息（猫、狗。。）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65E360-B681-3B96-677D-1AA14FB5E100}"/>
              </a:ext>
            </a:extLst>
          </p:cNvPr>
          <p:cNvSpPr txBox="1"/>
          <p:nvPr/>
        </p:nvSpPr>
        <p:spPr>
          <a:xfrm>
            <a:off x="197442" y="3630116"/>
            <a:ext cx="3228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K-flow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可以有效保留高频信息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而普通的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FM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趋于模糊</a:t>
            </a:r>
          </a:p>
        </p:txBody>
      </p:sp>
    </p:spTree>
    <p:extLst>
      <p:ext uri="{BB962C8B-B14F-4D97-AF65-F5344CB8AC3E}">
        <p14:creationId xmlns:p14="http://schemas.microsoft.com/office/powerpoint/2010/main" val="2811167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CA68B-8D03-9C9F-3D6F-C1452E30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8B18D-B5E6-CD56-9A76-3CD8C75BB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-188873"/>
            <a:ext cx="10515600" cy="1325563"/>
          </a:xfrm>
        </p:spPr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221B37-B3DD-7CEC-3BCA-7C36335E340E}"/>
              </a:ext>
            </a:extLst>
          </p:cNvPr>
          <p:cNvSpPr txBox="1"/>
          <p:nvPr/>
        </p:nvSpPr>
        <p:spPr>
          <a:xfrm>
            <a:off x="539621" y="767358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尺度控制生成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FBD49B-752C-F608-3AC8-05D506490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909" y="1136690"/>
            <a:ext cx="8303132" cy="265886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F8FE530-D3CF-D7A4-99E6-4CFBDC5E59AF}"/>
              </a:ext>
            </a:extLst>
          </p:cNvPr>
          <p:cNvSpPr txBox="1"/>
          <p:nvPr/>
        </p:nvSpPr>
        <p:spPr>
          <a:xfrm>
            <a:off x="3807824" y="859691"/>
            <a:ext cx="375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高尺度噪声不变，修改低尺度噪声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3DB42B1-9EA8-D551-A740-3418E8117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909" y="4072558"/>
            <a:ext cx="8371428" cy="272380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059F08D-ADA7-763A-D14C-B78C26A375A2}"/>
              </a:ext>
            </a:extLst>
          </p:cNvPr>
          <p:cNvSpPr txBox="1"/>
          <p:nvPr/>
        </p:nvSpPr>
        <p:spPr>
          <a:xfrm>
            <a:off x="3807824" y="3795374"/>
            <a:ext cx="375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低尺度噪声不变，修改高尺度噪声</a:t>
            </a:r>
          </a:p>
        </p:txBody>
      </p:sp>
    </p:spTree>
    <p:extLst>
      <p:ext uri="{BB962C8B-B14F-4D97-AF65-F5344CB8AC3E}">
        <p14:creationId xmlns:p14="http://schemas.microsoft.com/office/powerpoint/2010/main" val="1361861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D5AD-A79E-3B37-2AA0-D42D63F2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141C6-834D-4074-1441-DABAD6F6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876D72-8BC9-CD8B-3C5B-C8B777548907}"/>
              </a:ext>
            </a:extLst>
          </p:cNvPr>
          <p:cNvSpPr txBox="1"/>
          <p:nvPr/>
        </p:nvSpPr>
        <p:spPr>
          <a:xfrm>
            <a:off x="1054359" y="1520890"/>
            <a:ext cx="278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科学研究（分子组装）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BBE305-15DA-5D83-FF9E-4B363DCC4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4446"/>
            <a:ext cx="10571428" cy="2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97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1F147-6629-9FB3-430E-70989BAE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64633-DBE2-FCC3-0255-123FED6D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 Works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F9B0708-58B0-EE88-804D-48CB55DAA99D}"/>
                  </a:ext>
                </a:extLst>
              </p:cNvPr>
              <p:cNvSpPr txBox="1"/>
              <p:nvPr/>
            </p:nvSpPr>
            <p:spPr>
              <a:xfrm>
                <a:off x="998376" y="1690688"/>
                <a:ext cx="10168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多模态生成：文本引导的图像生成等任务，通过将图像与自然语言输入对齐，更好地操控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来生成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F9B0708-58B0-EE88-804D-48CB55DA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76" y="1690688"/>
                <a:ext cx="10168168" cy="369332"/>
              </a:xfrm>
              <a:prstGeom prst="rect">
                <a:avLst/>
              </a:prstGeom>
              <a:blipFill>
                <a:blip r:embed="rId2"/>
                <a:stretch>
                  <a:fillRect l="-540" t="-1147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E97745E0-3CBA-B66E-ED0A-DCA3E53B65D0}"/>
              </a:ext>
            </a:extLst>
          </p:cNvPr>
          <p:cNvSpPr/>
          <p:nvPr/>
        </p:nvSpPr>
        <p:spPr>
          <a:xfrm>
            <a:off x="2164702" y="2519265"/>
            <a:ext cx="914400" cy="49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文本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BC88713-2075-7475-01D6-0FECAF393D18}"/>
              </a:ext>
            </a:extLst>
          </p:cNvPr>
          <p:cNvSpPr/>
          <p:nvPr/>
        </p:nvSpPr>
        <p:spPr>
          <a:xfrm>
            <a:off x="4864360" y="2519265"/>
            <a:ext cx="914400" cy="49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图像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16FB32A-1F7B-DA74-D6CA-E8914D90C514}"/>
              </a:ext>
            </a:extLst>
          </p:cNvPr>
          <p:cNvSpPr/>
          <p:nvPr/>
        </p:nvSpPr>
        <p:spPr>
          <a:xfrm>
            <a:off x="3470988" y="3314955"/>
            <a:ext cx="914400" cy="49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低</a:t>
            </a:r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12FA7FC-12FB-E256-59EF-C8911961A748}"/>
              </a:ext>
            </a:extLst>
          </p:cNvPr>
          <p:cNvSpPr/>
          <p:nvPr/>
        </p:nvSpPr>
        <p:spPr>
          <a:xfrm>
            <a:off x="4864360" y="3324286"/>
            <a:ext cx="914400" cy="49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</a:t>
            </a:r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0C55AF2-095A-15D1-126F-5A7A7FDF603B}"/>
              </a:ext>
            </a:extLst>
          </p:cNvPr>
          <p:cNvSpPr/>
          <p:nvPr/>
        </p:nvSpPr>
        <p:spPr>
          <a:xfrm>
            <a:off x="6257732" y="3324286"/>
            <a:ext cx="914400" cy="4969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高</a:t>
            </a:r>
            <a:r>
              <a:rPr lang="en-US" altLang="zh-CN" dirty="0"/>
              <a:t>k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A67FE7D-D170-7B4D-1122-6A3F3D4CFC6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928188" y="3016251"/>
            <a:ext cx="1393372" cy="298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52370EC-530B-9F8C-FA24-F53B081B0FC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321560" y="3016251"/>
            <a:ext cx="0" cy="308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8F22DFB-469D-7713-7A9B-B1B7C4B3ADB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5321560" y="3016251"/>
            <a:ext cx="1393372" cy="308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9629365-BE01-080A-21B2-010D58D5CA5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079102" y="2767758"/>
            <a:ext cx="1785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B4884DB-136E-2017-D3A9-F4A5E61E5466}"/>
              </a:ext>
            </a:extLst>
          </p:cNvPr>
          <p:cNvSpPr txBox="1"/>
          <p:nvPr/>
        </p:nvSpPr>
        <p:spPr>
          <a:xfrm>
            <a:off x="3605022" y="23890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6AB9790-9D36-FDD1-0738-55589F10B7AA}"/>
              </a:ext>
            </a:extLst>
          </p:cNvPr>
          <p:cNvSpPr txBox="1"/>
          <p:nvPr/>
        </p:nvSpPr>
        <p:spPr>
          <a:xfrm>
            <a:off x="979715" y="4125675"/>
            <a:ext cx="8379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深化数学理论：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幅度和能量的关系仅在实验上有简单验证。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可以进一步探索能量机制在生成模型中的作用，使生成内容更符合物理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数学规律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888005D-0FAF-8CED-FE83-B0490FDFF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36" y="4838055"/>
            <a:ext cx="4725955" cy="182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8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0967-F4A4-158F-722B-B77842555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820EA-950E-6DEC-0996-FF6FFB3AA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23321"/>
            <a:ext cx="9144000" cy="1186641"/>
          </a:xfrm>
        </p:spPr>
        <p:txBody>
          <a:bodyPr/>
          <a:lstStyle/>
          <a:p>
            <a:r>
              <a:rPr lang="en-US" altLang="zh-CN" dirty="0"/>
              <a:t>Thanks!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050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030D5-1285-A78F-967C-4EE2E540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B5E7D-6260-007B-DB47-1974C071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6D530CA-F2C2-5191-FC11-6D5152D72A9A}"/>
                  </a:ext>
                </a:extLst>
              </p:cNvPr>
              <p:cNvSpPr txBox="1"/>
              <p:nvPr/>
            </p:nvSpPr>
            <p:spPr>
              <a:xfrm>
                <a:off x="1383129" y="1548693"/>
                <a:ext cx="8670471" cy="1634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𝕝</m:t>
                              </m:r>
                            </m:e>
                            <m:sub>
                              <m:rad>
                                <m:radPr>
                                  <m:degHide m:val="on"/>
                                  <m:ctrlPr>
                                    <a:rPr lang="zh-CN" alt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𝕝</m:t>
                                  </m:r>
                                </m:e>
                                <m:sub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ra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≥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𝕝</m:t>
                              </m:r>
                            </m:e>
                            <m:sub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ℱ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6D530CA-F2C2-5191-FC11-6D5152D72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129" y="1548693"/>
                <a:ext cx="8670471" cy="1634037"/>
              </a:xfrm>
              <a:prstGeom prst="rect">
                <a:avLst/>
              </a:prstGeom>
              <a:blipFill>
                <a:blip r:embed="rId2"/>
                <a:stretch>
                  <a:fillRect t="-67537" r="-2954" b="-123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8A51E20-F303-1EB6-697A-B066DAB8B127}"/>
                  </a:ext>
                </a:extLst>
              </p:cNvPr>
              <p:cNvSpPr txBox="1"/>
              <p:nvPr/>
            </p:nvSpPr>
            <p:spPr>
              <a:xfrm>
                <a:off x="953277" y="3429000"/>
                <a:ext cx="11030327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求导（只有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是关于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的函数）得到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𝑑𝑘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𝕝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ℱ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𝜙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8A51E20-F303-1EB6-697A-B066DAB8B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77" y="3429000"/>
                <a:ext cx="11030327" cy="715902"/>
              </a:xfrm>
              <a:prstGeom prst="rect">
                <a:avLst/>
              </a:prstGeom>
              <a:blipFill>
                <a:blip r:embed="rId3"/>
                <a:stretch>
                  <a:fillRect l="-12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70D6EF9-9F37-E6CD-4FA7-9F4391664A27}"/>
                  </a:ext>
                </a:extLst>
              </p:cNvPr>
              <p:cNvSpPr txBox="1"/>
              <p:nvPr/>
            </p:nvSpPr>
            <p:spPr>
              <a:xfrm>
                <a:off x="1828050" y="4299326"/>
                <a:ext cx="95547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𝜇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𝜇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=1(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作者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笔误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？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𝜇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′(1)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保证了可微性质，从而支持梯度优化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70D6EF9-9F37-E6CD-4FA7-9F4391664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050" y="4299326"/>
                <a:ext cx="9554795" cy="276999"/>
              </a:xfrm>
              <a:prstGeom prst="rect">
                <a:avLst/>
              </a:prstGeom>
              <a:blipFill>
                <a:blip r:embed="rId4"/>
                <a:stretch>
                  <a:fillRect l="-893" t="-32609" b="-45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433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C3BA-4D2A-B378-324C-59CEA40C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F4284-C33A-216D-6B2B-469644F8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6D7A83-73D1-2A1D-EA0F-436E8CE395D6}"/>
                  </a:ext>
                </a:extLst>
              </p:cNvPr>
              <p:cNvSpPr txBox="1"/>
              <p:nvPr/>
            </p:nvSpPr>
            <p:spPr>
              <a:xfrm>
                <a:off x="1499896" y="1511625"/>
                <a:ext cx="7924022" cy="845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𝕝</m:t>
                              </m:r>
                            </m:e>
                            <m:sub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ℱ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6D7A83-73D1-2A1D-EA0F-436E8CE39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896" y="1511625"/>
                <a:ext cx="7924022" cy="8452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C2326BA-E82B-2C90-A412-EE7275D8C0D0}"/>
                  </a:ext>
                </a:extLst>
              </p:cNvPr>
              <p:cNvSpPr txBox="1"/>
              <p:nvPr/>
            </p:nvSpPr>
            <p:spPr>
              <a:xfrm>
                <a:off x="1499896" y="2467856"/>
                <a:ext cx="90157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是一个条件分布，（有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）通过损失的等价性和无条件分布联系起来（参考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FM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和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CFM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C2326BA-E82B-2C90-A412-EE7275D8C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896" y="2467856"/>
                <a:ext cx="9015738" cy="369332"/>
              </a:xfrm>
              <a:prstGeom prst="rect">
                <a:avLst/>
              </a:prstGeom>
              <a:blipFill>
                <a:blip r:embed="rId3"/>
                <a:stretch>
                  <a:fillRect l="-541" t="-13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AB0199C-245E-C4B2-0926-92372415E5EB}"/>
                  </a:ext>
                </a:extLst>
              </p:cNvPr>
              <p:cNvSpPr txBox="1"/>
              <p:nvPr/>
            </p:nvSpPr>
            <p:spPr>
              <a:xfrm>
                <a:off x="1459052" y="3245024"/>
                <a:ext cx="8812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K-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幅度分解后数据的分布可以写成：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𝑑𝑎𝑡𝑎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|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𝑚𝑎𝑥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𝑚𝑎𝑥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−1,…,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AB0199C-245E-C4B2-0926-92372415E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052" y="3245024"/>
                <a:ext cx="8812925" cy="369332"/>
              </a:xfrm>
              <a:prstGeom prst="rect">
                <a:avLst/>
              </a:prstGeom>
              <a:blipFill>
                <a:blip r:embed="rId4"/>
                <a:stretch>
                  <a:fillRect l="-553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84A8C476-0F23-C53A-26BC-D55850A975A4}"/>
              </a:ext>
            </a:extLst>
          </p:cNvPr>
          <p:cNvSpPr txBox="1"/>
          <p:nvPr/>
        </p:nvSpPr>
        <p:spPr>
          <a:xfrm>
            <a:off x="4389864" y="3633608"/>
            <a:ext cx="780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可以理解为局部特化性（和之前的局部向量场对应，可控生成的数学解释）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6E0C974-F198-BF9D-5F80-DB6FFC2E4688}"/>
                  </a:ext>
                </a:extLst>
              </p:cNvPr>
              <p:cNvSpPr txBox="1"/>
              <p:nvPr/>
            </p:nvSpPr>
            <p:spPr>
              <a:xfrm>
                <a:off x="1445810" y="4391524"/>
                <a:ext cx="8954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无条件向量场的显示表达：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⋅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由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bump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函数决定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6E0C974-F198-BF9D-5F80-DB6FFC2E4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810" y="4391524"/>
                <a:ext cx="8954824" cy="369332"/>
              </a:xfrm>
              <a:prstGeom prst="rect">
                <a:avLst/>
              </a:prstGeom>
              <a:blipFill>
                <a:blip r:embed="rId5"/>
                <a:stretch>
                  <a:fillRect l="-545" t="-13115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72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5D92-26B8-04E8-93EC-3645D0BD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F0FB3-74A9-F1FC-C603-65FEC23A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971CAD-BA32-C286-A9F9-7AD73C6143D0}"/>
              </a:ext>
            </a:extLst>
          </p:cNvPr>
          <p:cNvSpPr txBox="1"/>
          <p:nvPr/>
        </p:nvSpPr>
        <p:spPr>
          <a:xfrm>
            <a:off x="993521" y="1351195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如何影响生成的路径维度？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F31F68-CCF5-CE64-D298-12E584B9B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619" y="1851389"/>
            <a:ext cx="8504762" cy="375238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AAC9DCC-E07D-971B-E587-3F403FA803E4}"/>
              </a:ext>
            </a:extLst>
          </p:cNvPr>
          <p:cNvSpPr txBox="1"/>
          <p:nvPr/>
        </p:nvSpPr>
        <p:spPr>
          <a:xfrm>
            <a:off x="2946141" y="566920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传统流匹配模型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的生成路径在全流程中维度分布更均匀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E84D5D9-9D7F-098D-EEDB-715D1CA17AC3}"/>
                  </a:ext>
                </a:extLst>
              </p:cNvPr>
              <p:cNvSpPr txBox="1"/>
              <p:nvPr/>
            </p:nvSpPr>
            <p:spPr>
              <a:xfrm>
                <a:off x="3795227" y="1666723"/>
                <a:ext cx="60975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量化生成轨迹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在二维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PCA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子空间的重建误差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E84D5D9-9D7F-098D-EEDB-715D1CA17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27" y="1666723"/>
                <a:ext cx="6097554" cy="369332"/>
              </a:xfrm>
              <a:prstGeom prst="rect">
                <a:avLst/>
              </a:prstGeom>
              <a:blipFill>
                <a:blip r:embed="rId3"/>
                <a:stretch>
                  <a:fillRect l="-900" t="-1147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B2BCE9E3-FCB6-9FB7-56C7-846ED140F254}"/>
              </a:ext>
            </a:extLst>
          </p:cNvPr>
          <p:cNvSpPr txBox="1"/>
          <p:nvPr/>
        </p:nvSpPr>
        <p:spPr>
          <a:xfrm>
            <a:off x="2946141" y="6103964"/>
            <a:ext cx="8651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K-Flow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低尺度段投影误差更高，说明其低尺度段占据更高的有效维度，语义更丰富，高尺度段收敛到低维，仅补充细节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84415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1072</Words>
  <Application>Microsoft Office PowerPoint</Application>
  <PresentationFormat>宽屏</PresentationFormat>
  <Paragraphs>114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宋体</vt:lpstr>
      <vt:lpstr>Arial</vt:lpstr>
      <vt:lpstr>Calibri</vt:lpstr>
      <vt:lpstr>Cambria Math</vt:lpstr>
      <vt:lpstr>Times New Roman</vt:lpstr>
      <vt:lpstr>WPS</vt:lpstr>
      <vt:lpstr>Flow Along the K-Amplitude for Generative Modeling</vt:lpstr>
      <vt:lpstr>Motivation</vt:lpstr>
      <vt:lpstr>如何度量数据的尺度？——尺度参数k与K-幅度</vt:lpstr>
      <vt:lpstr>Flow Matching(FM)流匹配</vt:lpstr>
      <vt:lpstr>K-Flow核心创新</vt:lpstr>
      <vt:lpstr>K-Flow pipeline</vt:lpstr>
      <vt:lpstr>K-Flow pipeline</vt:lpstr>
      <vt:lpstr>Properties of K-Flow</vt:lpstr>
      <vt:lpstr>Experiments</vt:lpstr>
      <vt:lpstr>Experiments</vt:lpstr>
      <vt:lpstr>Experiments</vt:lpstr>
      <vt:lpstr>Experiments</vt:lpstr>
      <vt:lpstr>Future Works</vt:lpstr>
      <vt:lpstr>Thanks!</vt:lpstr>
      <vt:lpstr>Appendix</vt:lpstr>
      <vt:lpstr>Appendix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chenlihao</dc:creator>
  <cp:lastModifiedBy>力豪 陈</cp:lastModifiedBy>
  <cp:revision>32</cp:revision>
  <dcterms:created xsi:type="dcterms:W3CDTF">2023-08-09T12:44:00Z</dcterms:created>
  <dcterms:modified xsi:type="dcterms:W3CDTF">2026-03-19T08:19:32Z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